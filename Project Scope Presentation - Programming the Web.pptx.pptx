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0"/>
  </p:notes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Foda Display" charset="1" panose="00000000000000000000"/>
      <p:regular r:id="rId13"/>
    </p:embeddedFont>
    <p:embeddedFont>
      <p:font typeface="Brittany" charset="1" panose="00000000000000000000"/>
      <p:regular r:id="rId14"/>
    </p:embeddedFont>
    <p:embeddedFont>
      <p:font typeface="Arial Bold" charset="1" panose="020B0704020202020204"/>
      <p:regular r:id="rId15"/>
    </p:embeddedFont>
    <p:embeddedFont>
      <p:font typeface="Arial" charset="1" panose="020B06040202020202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notesMasters/notesMaster1.xml" Type="http://schemas.openxmlformats.org/officeDocument/2006/relationships/notesMaster"/><Relationship Id="rId11" Target="theme/theme2.xml" Type="http://schemas.openxmlformats.org/officeDocument/2006/relationships/theme"/><Relationship Id="rId12" Target="notesSlides/notesSlide1.xml" Type="http://schemas.openxmlformats.org/officeDocument/2006/relationships/notes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notesSlides/notesSlide2.xml" Type="http://schemas.openxmlformats.org/officeDocument/2006/relationships/notesSlide"/><Relationship Id="rId17" Target="fonts/font17.fntdata" Type="http://schemas.openxmlformats.org/officeDocument/2006/relationships/font"/><Relationship Id="rId18" Target="notesSlides/notesSlide3.xml" Type="http://schemas.openxmlformats.org/officeDocument/2006/relationships/notesSlide"/><Relationship Id="rId19" Target="notesSlides/notesSlide4.xml" Type="http://schemas.openxmlformats.org/officeDocument/2006/relationships/notes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23416" y="1489150"/>
            <a:ext cx="17041200" cy="4653485"/>
            <a:chOff x="0" y="0"/>
            <a:chExt cx="22721600" cy="62046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21601" cy="6204647"/>
            </a:xfrm>
            <a:custGeom>
              <a:avLst/>
              <a:gdLst/>
              <a:ahLst/>
              <a:cxnLst/>
              <a:rect r="r" b="b" t="t" l="l"/>
              <a:pathLst>
                <a:path h="6204647" w="22721601">
                  <a:moveTo>
                    <a:pt x="0" y="0"/>
                  </a:moveTo>
                  <a:lnTo>
                    <a:pt x="22721601" y="0"/>
                  </a:lnTo>
                  <a:lnTo>
                    <a:pt x="22721601" y="6204647"/>
                  </a:lnTo>
                  <a:lnTo>
                    <a:pt x="0" y="62046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81100"/>
              <a:ext cx="22721600" cy="7385747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12480"/>
                </a:lnSpc>
              </a:pPr>
              <a:r>
                <a:rPr lang="en-US" sz="10400">
                  <a:solidFill>
                    <a:srgbClr val="000000"/>
                  </a:solidFill>
                  <a:latin typeface="Foda Display"/>
                  <a:ea typeface="Foda Display"/>
                  <a:cs typeface="Foda Display"/>
                  <a:sym typeface="Foda Display"/>
                </a:rPr>
                <a:t>B</a:t>
              </a:r>
              <a:r>
                <a:rPr lang="en-US" sz="10400">
                  <a:solidFill>
                    <a:srgbClr val="000000"/>
                  </a:solidFill>
                  <a:latin typeface="Foda Display"/>
                  <a:ea typeface="Foda Display"/>
                  <a:cs typeface="Foda Display"/>
                  <a:sym typeface="Foda Display"/>
                </a:rPr>
                <a:t>eeSmart </a:t>
              </a:r>
            </a:p>
            <a:p>
              <a:pPr algn="ctr">
                <a:lnSpc>
                  <a:spcPts val="12480"/>
                </a:lnSpc>
              </a:pPr>
              <a:r>
                <a:rPr lang="en-US" sz="10400">
                  <a:solidFill>
                    <a:srgbClr val="000000"/>
                  </a:solidFill>
                  <a:latin typeface="Foda Display"/>
                  <a:ea typeface="Foda Display"/>
                  <a:cs typeface="Foda Display"/>
                  <a:sym typeface="Foda Display"/>
                </a:rPr>
                <a:t>-</a:t>
              </a:r>
              <a:r>
                <a:rPr lang="en-US" sz="10400">
                  <a:solidFill>
                    <a:srgbClr val="000000"/>
                  </a:solidFill>
                  <a:latin typeface="Foda Display"/>
                  <a:ea typeface="Foda Display"/>
                  <a:cs typeface="Foda Display"/>
                  <a:sym typeface="Foda Display"/>
                </a:rPr>
                <a:t> The Spell Bee Game -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791615">
            <a:off x="4531910" y="1167360"/>
            <a:ext cx="1382407" cy="1447320"/>
          </a:xfrm>
          <a:custGeom>
            <a:avLst/>
            <a:gdLst/>
            <a:ahLst/>
            <a:cxnLst/>
            <a:rect r="r" b="b" t="t" l="l"/>
            <a:pathLst>
              <a:path h="1447320" w="1382407">
                <a:moveTo>
                  <a:pt x="0" y="0"/>
                </a:moveTo>
                <a:lnTo>
                  <a:pt x="1382407" y="0"/>
                </a:lnTo>
                <a:lnTo>
                  <a:pt x="1382407" y="1447320"/>
                </a:lnTo>
                <a:lnTo>
                  <a:pt x="0" y="14473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14825" y="5759675"/>
            <a:ext cx="16858350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20"/>
              </a:lnSpc>
            </a:pPr>
            <a:r>
              <a:rPr lang="en-US" sz="4600">
                <a:solidFill>
                  <a:srgbClr val="FFCD3F"/>
                </a:solidFill>
                <a:latin typeface="Brittany"/>
                <a:ea typeface="Brittany"/>
                <a:cs typeface="Brittany"/>
                <a:sym typeface="Brittany"/>
              </a:rPr>
              <a:t>Sprint: Programming the Web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179219" y="7426305"/>
            <a:ext cx="1453603" cy="416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3"/>
              </a:lnSpc>
            </a:pPr>
            <a:r>
              <a:rPr lang="en-US" b="true" sz="329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815662" y="8257933"/>
            <a:ext cx="2491160" cy="416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3"/>
              </a:lnSpc>
            </a:pPr>
            <a:r>
              <a:rPr lang="en-US" b="true" sz="329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Ashmitha 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922983" y="8257933"/>
            <a:ext cx="2232870" cy="416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3"/>
              </a:lnSpc>
            </a:pPr>
            <a:r>
              <a:rPr lang="en-US" b="true" sz="329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Rashika 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133685" y="8257933"/>
            <a:ext cx="2465331" cy="416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3"/>
              </a:lnSpc>
            </a:pPr>
            <a:r>
              <a:rPr lang="en-US" b="true" sz="329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Rachana 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816537" y="2172800"/>
            <a:ext cx="6021071" cy="5786150"/>
          </a:xfrm>
          <a:custGeom>
            <a:avLst/>
            <a:gdLst/>
            <a:ahLst/>
            <a:cxnLst/>
            <a:rect r="r" b="b" t="t" l="l"/>
            <a:pathLst>
              <a:path h="5786150" w="6021071">
                <a:moveTo>
                  <a:pt x="0" y="0"/>
                </a:moveTo>
                <a:lnTo>
                  <a:pt x="6021071" y="0"/>
                </a:lnTo>
                <a:lnTo>
                  <a:pt x="6021071" y="5786150"/>
                </a:lnTo>
                <a:lnTo>
                  <a:pt x="0" y="57861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849909" y="3925125"/>
            <a:ext cx="308955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b="true" sz="22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Project Expectations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785105" y="6031937"/>
            <a:ext cx="289095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b="true" sz="22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Project Deliverables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51887" y="1044225"/>
            <a:ext cx="583200" cy="583200"/>
            <a:chOff x="0" y="0"/>
            <a:chExt cx="777600" cy="777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77621" cy="777621"/>
            </a:xfrm>
            <a:custGeom>
              <a:avLst/>
              <a:gdLst/>
              <a:ahLst/>
              <a:cxnLst/>
              <a:rect r="r" b="b" t="t" l="l"/>
              <a:pathLst>
                <a:path h="777621" w="777621">
                  <a:moveTo>
                    <a:pt x="0" y="388747"/>
                  </a:moveTo>
                  <a:cubicBezTo>
                    <a:pt x="0" y="174117"/>
                    <a:pt x="174117" y="0"/>
                    <a:pt x="388747" y="0"/>
                  </a:cubicBezTo>
                  <a:cubicBezTo>
                    <a:pt x="603377" y="0"/>
                    <a:pt x="777621" y="174117"/>
                    <a:pt x="777621" y="388747"/>
                  </a:cubicBezTo>
                  <a:cubicBezTo>
                    <a:pt x="777621" y="603377"/>
                    <a:pt x="603504" y="777621"/>
                    <a:pt x="388747" y="777621"/>
                  </a:cubicBezTo>
                  <a:cubicBezTo>
                    <a:pt x="173990" y="777621"/>
                    <a:pt x="0" y="603504"/>
                    <a:pt x="0" y="388747"/>
                  </a:cubicBezTo>
                  <a:close/>
                </a:path>
              </a:pathLst>
            </a:custGeom>
            <a:solidFill>
              <a:srgbClr val="3FACE2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830337" y="1019300"/>
            <a:ext cx="7728150" cy="76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3600">
                <a:solidFill>
                  <a:srgbClr val="3FACE2"/>
                </a:solidFill>
                <a:latin typeface="Arial Bold"/>
                <a:ea typeface="Arial Bold"/>
                <a:cs typeface="Arial Bold"/>
                <a:sym typeface="Arial Bold"/>
              </a:rPr>
              <a:t>Team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-635665" y="1420743"/>
            <a:ext cx="6849909" cy="2686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</a:p>
          <a:p>
            <a:pPr algn="l" marL="894079" indent="-447039" lvl="1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Shared roles:</a:t>
            </a:r>
          </a:p>
          <a:p>
            <a:pPr algn="l" marL="1899918" indent="-633306" lvl="2">
              <a:lnSpc>
                <a:spcPts val="2639"/>
              </a:lnSpc>
              <a:buFont typeface="Arial"/>
              <a:buChar char="⚬"/>
            </a:pPr>
            <a:r>
              <a:rPr lang="en-US" b="true" sz="21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Ashmitha</a:t>
            </a:r>
            <a:r>
              <a:rPr lang="en-US" sz="2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HTML structure and page design (Name, Avatar, Accent screens)</a:t>
            </a:r>
          </a:p>
          <a:p>
            <a:pPr algn="l" marL="1899918" indent="-633306" lvl="2">
              <a:lnSpc>
                <a:spcPts val="2639"/>
              </a:lnSpc>
              <a:buFont typeface="Arial"/>
              <a:buChar char="⚬"/>
            </a:pPr>
            <a:r>
              <a:rPr lang="en-US" b="true" sz="21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Rashika</a:t>
            </a:r>
            <a:r>
              <a:rPr lang="en-US" sz="2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CSS styling, layout, and theme consistency</a:t>
            </a:r>
          </a:p>
          <a:p>
            <a:pPr algn="l" marL="1899918" indent="-633306" lvl="2">
              <a:lnSpc>
                <a:spcPts val="2639"/>
              </a:lnSpc>
              <a:buFont typeface="Arial"/>
              <a:buChar char="⚬"/>
            </a:pPr>
            <a:r>
              <a:rPr lang="en-US" b="true" sz="21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Rachana</a:t>
            </a:r>
            <a:r>
              <a:rPr lang="en-US" sz="2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JavaScript logic, Fetch API integration and Wireshark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51887" y="4418970"/>
            <a:ext cx="583200" cy="583200"/>
            <a:chOff x="0" y="0"/>
            <a:chExt cx="777600" cy="777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77621" cy="777621"/>
            </a:xfrm>
            <a:custGeom>
              <a:avLst/>
              <a:gdLst/>
              <a:ahLst/>
              <a:cxnLst/>
              <a:rect r="r" b="b" t="t" l="l"/>
              <a:pathLst>
                <a:path h="777621" w="777621">
                  <a:moveTo>
                    <a:pt x="0" y="388747"/>
                  </a:moveTo>
                  <a:cubicBezTo>
                    <a:pt x="0" y="174117"/>
                    <a:pt x="174117" y="0"/>
                    <a:pt x="388747" y="0"/>
                  </a:cubicBezTo>
                  <a:cubicBezTo>
                    <a:pt x="603377" y="0"/>
                    <a:pt x="777621" y="174117"/>
                    <a:pt x="777621" y="388747"/>
                  </a:cubicBezTo>
                  <a:cubicBezTo>
                    <a:pt x="777621" y="603377"/>
                    <a:pt x="603504" y="777621"/>
                    <a:pt x="388747" y="777621"/>
                  </a:cubicBezTo>
                  <a:cubicBezTo>
                    <a:pt x="173990" y="777621"/>
                    <a:pt x="0" y="603504"/>
                    <a:pt x="0" y="388747"/>
                  </a:cubicBezTo>
                  <a:close/>
                </a:path>
              </a:pathLst>
            </a:custGeom>
            <a:solidFill>
              <a:srgbClr val="3FACE2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857324" y="4398693"/>
            <a:ext cx="7728150" cy="76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3600">
                <a:solidFill>
                  <a:srgbClr val="3FACE2"/>
                </a:solidFill>
                <a:latin typeface="Arial Bold"/>
                <a:ea typeface="Arial Bold"/>
                <a:cs typeface="Arial Bold"/>
                <a:sym typeface="Arial Bold"/>
              </a:rPr>
              <a:t>Goals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69806" y="5189150"/>
            <a:ext cx="5744438" cy="2404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69" indent="-248284" lvl="1">
              <a:lnSpc>
                <a:spcPts val="3173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 an </a:t>
            </a:r>
            <a:r>
              <a:rPr lang="en-US" sz="22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interactive </a:t>
            </a:r>
            <a:r>
              <a:rPr lang="en-US" sz="22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API</a:t>
            </a:r>
            <a:r>
              <a:rPr lang="en-US" sz="22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en-US" sz="22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sz="22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22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22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22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sz="22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webpage</a:t>
            </a:r>
          </a:p>
          <a:p>
            <a:pPr algn="l" marL="496569" indent="-248284" lvl="1">
              <a:lnSpc>
                <a:spcPts val="3173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Implement </a:t>
            </a:r>
            <a:r>
              <a:rPr lang="en-US" sz="22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DOM </a:t>
            </a:r>
            <a:r>
              <a:rPr lang="en-US" sz="22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manip</a:t>
            </a:r>
            <a:r>
              <a:rPr lang="en-US" sz="22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22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r>
              <a:rPr lang="en-US" sz="22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</a:t>
            </a:r>
            <a:r>
              <a:rPr lang="en-US" sz="22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ion and </a:t>
            </a:r>
            <a:r>
              <a:rPr lang="en-US" sz="22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event listeners</a:t>
            </a:r>
          </a:p>
          <a:p>
            <a:pPr algn="l" marL="496569" indent="-248284" lvl="1">
              <a:lnSpc>
                <a:spcPts val="3173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Analyze API communication using Wireshark</a:t>
            </a:r>
          </a:p>
          <a:p>
            <a:pPr algn="l">
              <a:lnSpc>
                <a:spcPts val="3173"/>
              </a:lnSpc>
            </a:pPr>
          </a:p>
        </p:txBody>
      </p:sp>
      <p:grpSp>
        <p:nvGrpSpPr>
          <p:cNvPr name="Group 13" id="13"/>
          <p:cNvGrpSpPr/>
          <p:nvPr/>
        </p:nvGrpSpPr>
        <p:grpSpPr>
          <a:xfrm rot="0">
            <a:off x="151887" y="7238930"/>
            <a:ext cx="583200" cy="583200"/>
            <a:chOff x="0" y="0"/>
            <a:chExt cx="777600" cy="7776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77621" cy="777621"/>
            </a:xfrm>
            <a:custGeom>
              <a:avLst/>
              <a:gdLst/>
              <a:ahLst/>
              <a:cxnLst/>
              <a:rect r="r" b="b" t="t" l="l"/>
              <a:pathLst>
                <a:path h="777621" w="777621">
                  <a:moveTo>
                    <a:pt x="0" y="388747"/>
                  </a:moveTo>
                  <a:cubicBezTo>
                    <a:pt x="0" y="174117"/>
                    <a:pt x="174117" y="0"/>
                    <a:pt x="388747" y="0"/>
                  </a:cubicBezTo>
                  <a:cubicBezTo>
                    <a:pt x="603377" y="0"/>
                    <a:pt x="777621" y="174117"/>
                    <a:pt x="777621" y="388747"/>
                  </a:cubicBezTo>
                  <a:cubicBezTo>
                    <a:pt x="777621" y="603377"/>
                    <a:pt x="603504" y="777621"/>
                    <a:pt x="388747" y="777621"/>
                  </a:cubicBezTo>
                  <a:cubicBezTo>
                    <a:pt x="173990" y="777621"/>
                    <a:pt x="0" y="603504"/>
                    <a:pt x="0" y="388747"/>
                  </a:cubicBezTo>
                  <a:close/>
                </a:path>
              </a:pathLst>
            </a:custGeom>
            <a:solidFill>
              <a:srgbClr val="3FACE2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830337" y="7229103"/>
            <a:ext cx="7782125" cy="774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0"/>
              </a:lnSpc>
            </a:pPr>
            <a:r>
              <a:rPr lang="en-US" b="true" sz="3625">
                <a:solidFill>
                  <a:srgbClr val="3FACE2"/>
                </a:solidFill>
                <a:latin typeface="Arial Bold"/>
                <a:ea typeface="Arial Bold"/>
                <a:cs typeface="Arial Bold"/>
                <a:sym typeface="Arial Bold"/>
              </a:rPr>
              <a:t>Tools &amp; Technologies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0" y="8088871"/>
            <a:ext cx="6546513" cy="1715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02765" indent="-501382" lvl="1">
              <a:lnSpc>
                <a:spcPts val="3405"/>
              </a:lnSpc>
              <a:buFont typeface="Arial"/>
              <a:buChar char="•"/>
            </a:pPr>
            <a:r>
              <a:rPr lang="en-US" sz="24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HTML, CSS, JavaScript (Fetch API + Async/Await)</a:t>
            </a:r>
          </a:p>
          <a:p>
            <a:pPr algn="l" marL="1002451" indent="-501226" lvl="1">
              <a:lnSpc>
                <a:spcPts val="3405"/>
              </a:lnSpc>
              <a:buFont typeface="Arial"/>
              <a:buChar char="•"/>
            </a:pPr>
            <a:r>
              <a:rPr lang="en-US" sz="24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Wireshark – to trace TCP/TLS packets</a:t>
            </a:r>
          </a:p>
          <a:p>
            <a:pPr algn="l" marL="1002451" indent="-501226" lvl="1">
              <a:lnSpc>
                <a:spcPts val="3405"/>
              </a:lnSpc>
              <a:buFont typeface="Arial"/>
              <a:buChar char="•"/>
            </a:pPr>
            <a:r>
              <a:rPr lang="en-US" sz="24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Netlify– for online hosting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1193850" y="1418150"/>
            <a:ext cx="583200" cy="583200"/>
            <a:chOff x="0" y="0"/>
            <a:chExt cx="777600" cy="7776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77621" cy="777621"/>
            </a:xfrm>
            <a:custGeom>
              <a:avLst/>
              <a:gdLst/>
              <a:ahLst/>
              <a:cxnLst/>
              <a:rect r="r" b="b" t="t" l="l"/>
              <a:pathLst>
                <a:path h="777621" w="777621">
                  <a:moveTo>
                    <a:pt x="0" y="388747"/>
                  </a:moveTo>
                  <a:cubicBezTo>
                    <a:pt x="0" y="174117"/>
                    <a:pt x="174117" y="0"/>
                    <a:pt x="388747" y="0"/>
                  </a:cubicBezTo>
                  <a:cubicBezTo>
                    <a:pt x="603377" y="0"/>
                    <a:pt x="777621" y="174117"/>
                    <a:pt x="777621" y="388747"/>
                  </a:cubicBezTo>
                  <a:cubicBezTo>
                    <a:pt x="777621" y="603377"/>
                    <a:pt x="603504" y="777621"/>
                    <a:pt x="388747" y="777621"/>
                  </a:cubicBezTo>
                  <a:cubicBezTo>
                    <a:pt x="173990" y="777621"/>
                    <a:pt x="0" y="603504"/>
                    <a:pt x="0" y="388747"/>
                  </a:cubicBezTo>
                  <a:close/>
                </a:path>
              </a:pathLst>
            </a:custGeom>
            <a:solidFill>
              <a:srgbClr val="FFCD3F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1868427" y="1307250"/>
            <a:ext cx="5917950" cy="76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3600">
                <a:solidFill>
                  <a:srgbClr val="FFCD3F"/>
                </a:solidFill>
                <a:latin typeface="Arial Bold"/>
                <a:ea typeface="Arial Bold"/>
                <a:cs typeface="Arial Bold"/>
                <a:sym typeface="Arial Bold"/>
              </a:rPr>
              <a:t>APIs Used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1193850" y="3815193"/>
            <a:ext cx="583200" cy="583200"/>
            <a:chOff x="0" y="0"/>
            <a:chExt cx="777600" cy="7776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77621" cy="777621"/>
            </a:xfrm>
            <a:custGeom>
              <a:avLst/>
              <a:gdLst/>
              <a:ahLst/>
              <a:cxnLst/>
              <a:rect r="r" b="b" t="t" l="l"/>
              <a:pathLst>
                <a:path h="777621" w="777621">
                  <a:moveTo>
                    <a:pt x="0" y="388747"/>
                  </a:moveTo>
                  <a:cubicBezTo>
                    <a:pt x="0" y="174117"/>
                    <a:pt x="174117" y="0"/>
                    <a:pt x="388747" y="0"/>
                  </a:cubicBezTo>
                  <a:cubicBezTo>
                    <a:pt x="603377" y="0"/>
                    <a:pt x="777621" y="174117"/>
                    <a:pt x="777621" y="388747"/>
                  </a:cubicBezTo>
                  <a:cubicBezTo>
                    <a:pt x="777621" y="603377"/>
                    <a:pt x="603504" y="777621"/>
                    <a:pt x="388747" y="777621"/>
                  </a:cubicBezTo>
                  <a:cubicBezTo>
                    <a:pt x="173990" y="777621"/>
                    <a:pt x="0" y="603504"/>
                    <a:pt x="0" y="388747"/>
                  </a:cubicBezTo>
                  <a:close/>
                </a:path>
              </a:pathLst>
            </a:custGeom>
            <a:solidFill>
              <a:srgbClr val="FFCD3F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1868427" y="3700200"/>
            <a:ext cx="5917950" cy="76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3600">
                <a:solidFill>
                  <a:srgbClr val="FFCD3F"/>
                </a:solidFill>
                <a:latin typeface="Arial Bold"/>
                <a:ea typeface="Arial Bold"/>
                <a:cs typeface="Arial Bold"/>
                <a:sym typeface="Arial Bold"/>
              </a:rPr>
              <a:t>Deliverables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855827" y="4283145"/>
            <a:ext cx="5638350" cy="2935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1"/>
              </a:lnSpc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✓ Hosted webpage link: </a:t>
            </a:r>
            <a:r>
              <a:rPr lang="en-US" b="true" sz="2400">
                <a:solidFill>
                  <a:srgbClr val="3BABCD"/>
                </a:solidFill>
                <a:latin typeface="Arial Bold"/>
                <a:ea typeface="Arial Bold"/>
                <a:cs typeface="Arial Bold"/>
                <a:sym typeface="Arial Bold"/>
              </a:rPr>
              <a:t>https://69016ce0344624ed6cab4653--dainty-vacherin-c64991.netlify.app</a:t>
            </a:r>
            <a:r>
              <a:rPr lang="en-US" b="true" sz="2400">
                <a:solidFill>
                  <a:srgbClr val="C1EAFE"/>
                </a:solidFill>
                <a:latin typeface="Arial Bold"/>
                <a:ea typeface="Arial Bold"/>
                <a:cs typeface="Arial Bold"/>
                <a:sym typeface="Arial Bold"/>
              </a:rPr>
              <a:t>/</a:t>
            </a:r>
          </a:p>
          <a:p>
            <a:pPr algn="l">
              <a:lnSpc>
                <a:spcPts val="3311"/>
              </a:lnSpc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✓ Source code (index.html, style.css, script.js).</a:t>
            </a:r>
          </a:p>
          <a:p>
            <a:pPr algn="l">
              <a:lnSpc>
                <a:spcPts val="3311"/>
              </a:lnSpc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✓ Wireshark captures + 2–3 page analysis report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1041450" y="7329864"/>
            <a:ext cx="583200" cy="583200"/>
            <a:chOff x="0" y="0"/>
            <a:chExt cx="777600" cy="7776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77621" cy="777621"/>
            </a:xfrm>
            <a:custGeom>
              <a:avLst/>
              <a:gdLst/>
              <a:ahLst/>
              <a:cxnLst/>
              <a:rect r="r" b="b" t="t" l="l"/>
              <a:pathLst>
                <a:path h="777621" w="777621">
                  <a:moveTo>
                    <a:pt x="0" y="388747"/>
                  </a:moveTo>
                  <a:cubicBezTo>
                    <a:pt x="0" y="174117"/>
                    <a:pt x="174117" y="0"/>
                    <a:pt x="388747" y="0"/>
                  </a:cubicBezTo>
                  <a:cubicBezTo>
                    <a:pt x="603377" y="0"/>
                    <a:pt x="777621" y="174117"/>
                    <a:pt x="777621" y="388747"/>
                  </a:cubicBezTo>
                  <a:cubicBezTo>
                    <a:pt x="777621" y="603377"/>
                    <a:pt x="603504" y="777621"/>
                    <a:pt x="388747" y="777621"/>
                  </a:cubicBezTo>
                  <a:cubicBezTo>
                    <a:pt x="173990" y="777621"/>
                    <a:pt x="0" y="603504"/>
                    <a:pt x="0" y="388747"/>
                  </a:cubicBezTo>
                  <a:close/>
                </a:path>
              </a:pathLst>
            </a:custGeom>
            <a:solidFill>
              <a:srgbClr val="FFCD3F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1624650" y="7946250"/>
            <a:ext cx="5917950" cy="2097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925484" indent="-462742" lvl="1">
              <a:lnSpc>
                <a:spcPts val="3311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only open/free APIs</a:t>
            </a:r>
          </a:p>
          <a:p>
            <a:pPr algn="just" marL="925484" indent="-462742" lvl="1">
              <a:lnSpc>
                <a:spcPts val="3311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Page must show clear DOM updates &amp; interactivity</a:t>
            </a:r>
          </a:p>
          <a:p>
            <a:pPr algn="just" marL="925484" indent="-462742" lvl="1">
              <a:lnSpc>
                <a:spcPts val="3311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Hosted version must load without any dependencies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716027" y="7309300"/>
            <a:ext cx="5917950" cy="76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3600">
                <a:solidFill>
                  <a:srgbClr val="FFCD3F"/>
                </a:solidFill>
                <a:latin typeface="Arial Bold"/>
                <a:ea typeface="Arial Bold"/>
                <a:cs typeface="Arial Bold"/>
                <a:sym typeface="Arial Bold"/>
              </a:rPr>
              <a:t>Constraints</a:t>
            </a:r>
          </a:p>
        </p:txBody>
      </p:sp>
      <p:sp>
        <p:nvSpPr>
          <p:cNvPr name="AutoShape 28" id="28"/>
          <p:cNvSpPr/>
          <p:nvPr/>
        </p:nvSpPr>
        <p:spPr>
          <a:xfrm rot="4705">
            <a:off x="632168" y="942842"/>
            <a:ext cx="13918063" cy="0"/>
          </a:xfrm>
          <a:prstGeom prst="line">
            <a:avLst/>
          </a:prstGeom>
          <a:ln cap="rnd" w="9525">
            <a:solidFill>
              <a:srgbClr val="5959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9" id="29"/>
          <p:cNvSpPr txBox="true"/>
          <p:nvPr/>
        </p:nvSpPr>
        <p:spPr>
          <a:xfrm rot="0">
            <a:off x="830337" y="111534"/>
            <a:ext cx="772815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PROJECT SCOPE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1348071" y="1627425"/>
            <a:ext cx="6653862" cy="2318088"/>
            <a:chOff x="0" y="0"/>
            <a:chExt cx="8871816" cy="309078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871816" cy="3090784"/>
            </a:xfrm>
            <a:custGeom>
              <a:avLst/>
              <a:gdLst/>
              <a:ahLst/>
              <a:cxnLst/>
              <a:rect r="r" b="b" t="t" l="l"/>
              <a:pathLst>
                <a:path h="3090784" w="8871816">
                  <a:moveTo>
                    <a:pt x="0" y="0"/>
                  </a:moveTo>
                  <a:lnTo>
                    <a:pt x="8871816" y="0"/>
                  </a:lnTo>
                  <a:lnTo>
                    <a:pt x="8871816" y="3090784"/>
                  </a:lnTo>
                  <a:lnTo>
                    <a:pt x="0" y="30907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8871816" cy="31098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54989" indent="-277494" lvl="1">
                <a:lnSpc>
                  <a:spcPts val="2759"/>
                </a:lnSpc>
                <a:buFont typeface="Arial"/>
                <a:buChar char="•"/>
              </a:pPr>
              <a:r>
                <a:rPr lang="en-US" b="true" sz="2299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Random Word API</a:t>
              </a:r>
              <a:r>
                <a:rPr lang="en-US" sz="22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→ fetches a random English word</a:t>
              </a:r>
            </a:p>
            <a:p>
              <a:pPr algn="l" marL="554989" indent="-277494" lvl="1">
                <a:lnSpc>
                  <a:spcPts val="2759"/>
                </a:lnSpc>
                <a:buFont typeface="Arial"/>
                <a:buChar char="•"/>
              </a:pPr>
              <a:r>
                <a:rPr lang="en-US" b="true" sz="2299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Dictionary API</a:t>
              </a:r>
              <a:r>
                <a:rPr lang="en-US" sz="22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→ gives meaning &amp; synonyms</a:t>
              </a:r>
            </a:p>
            <a:p>
              <a:pPr algn="l" marL="554989" indent="-277494" lvl="1">
                <a:lnSpc>
                  <a:spcPts val="2759"/>
                </a:lnSpc>
                <a:buFont typeface="Arial"/>
                <a:buChar char="•"/>
              </a:pPr>
              <a:r>
                <a:rPr lang="en-US" sz="22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Together they make each round educational &amp; interactive</a:t>
              </a:r>
            </a:p>
          </p:txBody>
        </p:sp>
      </p:grpSp>
      <p:sp>
        <p:nvSpPr>
          <p:cNvPr name="Freeform 33" id="33"/>
          <p:cNvSpPr/>
          <p:nvPr/>
        </p:nvSpPr>
        <p:spPr>
          <a:xfrm flipH="true" flipV="false" rot="-162104">
            <a:off x="16568097" y="202445"/>
            <a:ext cx="1382407" cy="1447320"/>
          </a:xfrm>
          <a:custGeom>
            <a:avLst/>
            <a:gdLst/>
            <a:ahLst/>
            <a:cxnLst/>
            <a:rect r="r" b="b" t="t" l="l"/>
            <a:pathLst>
              <a:path h="1447320" w="1382407">
                <a:moveTo>
                  <a:pt x="1382406" y="0"/>
                </a:moveTo>
                <a:lnTo>
                  <a:pt x="0" y="0"/>
                </a:lnTo>
                <a:lnTo>
                  <a:pt x="0" y="1447320"/>
                </a:lnTo>
                <a:lnTo>
                  <a:pt x="1382406" y="1447320"/>
                </a:lnTo>
                <a:lnTo>
                  <a:pt x="1382406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509957"/>
            <a:ext cx="4927254" cy="1558069"/>
            <a:chOff x="0" y="0"/>
            <a:chExt cx="5520800" cy="17457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520817" cy="1745682"/>
            </a:xfrm>
            <a:custGeom>
              <a:avLst/>
              <a:gdLst/>
              <a:ahLst/>
              <a:cxnLst/>
              <a:rect r="r" b="b" t="t" l="l"/>
              <a:pathLst>
                <a:path h="1745682" w="5520817">
                  <a:moveTo>
                    <a:pt x="0" y="0"/>
                  </a:moveTo>
                  <a:lnTo>
                    <a:pt x="5520817" y="0"/>
                  </a:lnTo>
                  <a:lnTo>
                    <a:pt x="5520817" y="1134336"/>
                  </a:lnTo>
                  <a:lnTo>
                    <a:pt x="2996946" y="1134336"/>
                  </a:lnTo>
                  <a:lnTo>
                    <a:pt x="2996946" y="1309291"/>
                  </a:lnTo>
                  <a:lnTo>
                    <a:pt x="3233420" y="1309291"/>
                  </a:lnTo>
                  <a:lnTo>
                    <a:pt x="2760472" y="1745682"/>
                  </a:lnTo>
                  <a:lnTo>
                    <a:pt x="2287524" y="1309291"/>
                  </a:lnTo>
                  <a:lnTo>
                    <a:pt x="2523998" y="1309291"/>
                  </a:lnTo>
                  <a:lnTo>
                    <a:pt x="2523998" y="1134336"/>
                  </a:lnTo>
                  <a:lnTo>
                    <a:pt x="0" y="1134336"/>
                  </a:lnTo>
                  <a:close/>
                </a:path>
              </a:pathLst>
            </a:custGeom>
            <a:solidFill>
              <a:srgbClr val="3FACE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5520800" cy="1821956"/>
            </a:xfrm>
            <a:prstGeom prst="rect">
              <a:avLst/>
            </a:prstGeom>
          </p:spPr>
          <p:txBody>
            <a:bodyPr anchor="t" rtlCol="false" tIns="120903" lIns="120903" bIns="120903" rIns="120903"/>
            <a:lstStyle/>
            <a:p>
              <a:pPr algn="ctr">
                <a:lnSpc>
                  <a:spcPts val="4664"/>
                </a:lnSpc>
              </a:pPr>
              <a:r>
                <a:rPr lang="en-US" b="true" sz="333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Phase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83678" y="1509957"/>
            <a:ext cx="5226340" cy="1806820"/>
            <a:chOff x="0" y="0"/>
            <a:chExt cx="5546200" cy="1917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12700"/>
              <a:ext cx="5520817" cy="1891919"/>
            </a:xfrm>
            <a:custGeom>
              <a:avLst/>
              <a:gdLst/>
              <a:ahLst/>
              <a:cxnLst/>
              <a:rect r="r" b="b" t="t" l="l"/>
              <a:pathLst>
                <a:path h="1891919" w="5520817">
                  <a:moveTo>
                    <a:pt x="0" y="0"/>
                  </a:moveTo>
                  <a:lnTo>
                    <a:pt x="5520817" y="0"/>
                  </a:lnTo>
                  <a:lnTo>
                    <a:pt x="5520817" y="1229360"/>
                  </a:lnTo>
                  <a:lnTo>
                    <a:pt x="2998978" y="1229360"/>
                  </a:lnTo>
                  <a:lnTo>
                    <a:pt x="2998978" y="1418971"/>
                  </a:lnTo>
                  <a:lnTo>
                    <a:pt x="3237611" y="1418971"/>
                  </a:lnTo>
                  <a:lnTo>
                    <a:pt x="2760472" y="1891919"/>
                  </a:lnTo>
                  <a:lnTo>
                    <a:pt x="2283333" y="1418971"/>
                  </a:lnTo>
                  <a:lnTo>
                    <a:pt x="2521966" y="1418971"/>
                  </a:lnTo>
                  <a:lnTo>
                    <a:pt x="2521966" y="1229360"/>
                  </a:lnTo>
                  <a:lnTo>
                    <a:pt x="0" y="1229360"/>
                  </a:lnTo>
                  <a:close/>
                </a:path>
              </a:pathLst>
            </a:custGeom>
            <a:solidFill>
              <a:srgbClr val="08356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546217" cy="1918589"/>
            </a:xfrm>
            <a:custGeom>
              <a:avLst/>
              <a:gdLst/>
              <a:ahLst/>
              <a:cxnLst/>
              <a:rect r="r" b="b" t="t" l="l"/>
              <a:pathLst>
                <a:path h="1918589" w="5546217">
                  <a:moveTo>
                    <a:pt x="12700" y="0"/>
                  </a:moveTo>
                  <a:lnTo>
                    <a:pt x="5533517" y="0"/>
                  </a:lnTo>
                  <a:cubicBezTo>
                    <a:pt x="5540502" y="0"/>
                    <a:pt x="5546217" y="5715"/>
                    <a:pt x="5546217" y="12700"/>
                  </a:cubicBezTo>
                  <a:lnTo>
                    <a:pt x="5546217" y="1242060"/>
                  </a:lnTo>
                  <a:cubicBezTo>
                    <a:pt x="5546217" y="1249045"/>
                    <a:pt x="5540502" y="1254760"/>
                    <a:pt x="5533517" y="1254760"/>
                  </a:cubicBezTo>
                  <a:lnTo>
                    <a:pt x="3011678" y="1254760"/>
                  </a:lnTo>
                  <a:lnTo>
                    <a:pt x="3011678" y="1242060"/>
                  </a:lnTo>
                  <a:lnTo>
                    <a:pt x="3024378" y="1242060"/>
                  </a:lnTo>
                  <a:lnTo>
                    <a:pt x="3024378" y="1431671"/>
                  </a:lnTo>
                  <a:lnTo>
                    <a:pt x="3011678" y="1431671"/>
                  </a:lnTo>
                  <a:lnTo>
                    <a:pt x="3011678" y="1418971"/>
                  </a:lnTo>
                  <a:lnTo>
                    <a:pt x="3250311" y="1418971"/>
                  </a:lnTo>
                  <a:cubicBezTo>
                    <a:pt x="3255518" y="1418971"/>
                    <a:pt x="3260090" y="1422019"/>
                    <a:pt x="3261995" y="1426845"/>
                  </a:cubicBezTo>
                  <a:cubicBezTo>
                    <a:pt x="3263900" y="1431671"/>
                    <a:pt x="3262884" y="1437132"/>
                    <a:pt x="3259201" y="1440688"/>
                  </a:cubicBezTo>
                  <a:lnTo>
                    <a:pt x="2782062" y="1913636"/>
                  </a:lnTo>
                  <a:cubicBezTo>
                    <a:pt x="2777109" y="1918589"/>
                    <a:pt x="2769108" y="1918589"/>
                    <a:pt x="2764155" y="1913636"/>
                  </a:cubicBezTo>
                  <a:lnTo>
                    <a:pt x="2287016" y="1440688"/>
                  </a:lnTo>
                  <a:cubicBezTo>
                    <a:pt x="2283333" y="1437005"/>
                    <a:pt x="2282317" y="1431544"/>
                    <a:pt x="2284222" y="1426845"/>
                  </a:cubicBezTo>
                  <a:cubicBezTo>
                    <a:pt x="2286127" y="1422146"/>
                    <a:pt x="2290826" y="1418971"/>
                    <a:pt x="2295906" y="1418971"/>
                  </a:cubicBezTo>
                  <a:lnTo>
                    <a:pt x="2534539" y="1418971"/>
                  </a:lnTo>
                  <a:lnTo>
                    <a:pt x="2534539" y="1431671"/>
                  </a:lnTo>
                  <a:lnTo>
                    <a:pt x="2521839" y="1431671"/>
                  </a:lnTo>
                  <a:lnTo>
                    <a:pt x="2521839" y="1242060"/>
                  </a:lnTo>
                  <a:lnTo>
                    <a:pt x="2534539" y="1242060"/>
                  </a:lnTo>
                  <a:lnTo>
                    <a:pt x="2534539" y="1254760"/>
                  </a:lnTo>
                  <a:lnTo>
                    <a:pt x="12700" y="1254760"/>
                  </a:lnTo>
                  <a:cubicBezTo>
                    <a:pt x="5715" y="1254760"/>
                    <a:pt x="0" y="1249045"/>
                    <a:pt x="0" y="124206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242060"/>
                  </a:lnTo>
                  <a:lnTo>
                    <a:pt x="12700" y="1242060"/>
                  </a:lnTo>
                  <a:lnTo>
                    <a:pt x="12700" y="1229360"/>
                  </a:lnTo>
                  <a:lnTo>
                    <a:pt x="2534539" y="1229360"/>
                  </a:lnTo>
                  <a:cubicBezTo>
                    <a:pt x="2541524" y="1229360"/>
                    <a:pt x="2547239" y="1235075"/>
                    <a:pt x="2547239" y="1242060"/>
                  </a:cubicBezTo>
                  <a:lnTo>
                    <a:pt x="2547239" y="1431671"/>
                  </a:lnTo>
                  <a:cubicBezTo>
                    <a:pt x="2547239" y="1438656"/>
                    <a:pt x="2541524" y="1444371"/>
                    <a:pt x="2534539" y="1444371"/>
                  </a:cubicBezTo>
                  <a:lnTo>
                    <a:pt x="2295906" y="1444371"/>
                  </a:lnTo>
                  <a:lnTo>
                    <a:pt x="2295906" y="1431671"/>
                  </a:lnTo>
                  <a:lnTo>
                    <a:pt x="2304796" y="1422654"/>
                  </a:lnTo>
                  <a:lnTo>
                    <a:pt x="2781935" y="1895602"/>
                  </a:lnTo>
                  <a:lnTo>
                    <a:pt x="2773045" y="1904619"/>
                  </a:lnTo>
                  <a:lnTo>
                    <a:pt x="2764155" y="1895602"/>
                  </a:lnTo>
                  <a:lnTo>
                    <a:pt x="3241294" y="1422654"/>
                  </a:lnTo>
                  <a:lnTo>
                    <a:pt x="3250184" y="1431671"/>
                  </a:lnTo>
                  <a:lnTo>
                    <a:pt x="3250184" y="1444371"/>
                  </a:lnTo>
                  <a:lnTo>
                    <a:pt x="3011678" y="1444371"/>
                  </a:lnTo>
                  <a:cubicBezTo>
                    <a:pt x="3004693" y="1444371"/>
                    <a:pt x="2998978" y="1438656"/>
                    <a:pt x="2998978" y="1431671"/>
                  </a:cubicBezTo>
                  <a:lnTo>
                    <a:pt x="2998978" y="1242060"/>
                  </a:lnTo>
                  <a:cubicBezTo>
                    <a:pt x="2998978" y="1235075"/>
                    <a:pt x="3004693" y="1229360"/>
                    <a:pt x="3011678" y="1229360"/>
                  </a:cubicBezTo>
                  <a:lnTo>
                    <a:pt x="5533517" y="1229360"/>
                  </a:lnTo>
                  <a:lnTo>
                    <a:pt x="5533517" y="1242060"/>
                  </a:lnTo>
                  <a:lnTo>
                    <a:pt x="5520817" y="1242060"/>
                  </a:lnTo>
                  <a:lnTo>
                    <a:pt x="5520817" y="12700"/>
                  </a:lnTo>
                  <a:lnTo>
                    <a:pt x="5533517" y="12700"/>
                  </a:lnTo>
                  <a:lnTo>
                    <a:pt x="5533517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59595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5546200" cy="1945975"/>
            </a:xfrm>
            <a:prstGeom prst="rect">
              <a:avLst/>
            </a:prstGeom>
          </p:spPr>
          <p:txBody>
            <a:bodyPr anchor="t" rtlCol="false" tIns="63827" lIns="63827" bIns="63827" rIns="63827"/>
            <a:lstStyle/>
            <a:p>
              <a:pPr algn="ctr">
                <a:lnSpc>
                  <a:spcPts val="3920"/>
                </a:lnSpc>
              </a:pPr>
              <a:r>
                <a:rPr lang="en-US" b="true" sz="3266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Scope </a:t>
              </a:r>
            </a:p>
            <a:p>
              <a:pPr algn="ctr">
                <a:lnSpc>
                  <a:spcPts val="392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814500" y="1383495"/>
            <a:ext cx="4872609" cy="1684530"/>
            <a:chOff x="0" y="0"/>
            <a:chExt cx="5546200" cy="1917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2700" y="12700"/>
              <a:ext cx="5520817" cy="1891919"/>
            </a:xfrm>
            <a:custGeom>
              <a:avLst/>
              <a:gdLst/>
              <a:ahLst/>
              <a:cxnLst/>
              <a:rect r="r" b="b" t="t" l="l"/>
              <a:pathLst>
                <a:path h="1891919" w="5520817">
                  <a:moveTo>
                    <a:pt x="0" y="0"/>
                  </a:moveTo>
                  <a:lnTo>
                    <a:pt x="5520817" y="0"/>
                  </a:lnTo>
                  <a:lnTo>
                    <a:pt x="5520817" y="1229360"/>
                  </a:lnTo>
                  <a:lnTo>
                    <a:pt x="2998978" y="1229360"/>
                  </a:lnTo>
                  <a:lnTo>
                    <a:pt x="2998978" y="1418971"/>
                  </a:lnTo>
                  <a:lnTo>
                    <a:pt x="3237611" y="1418971"/>
                  </a:lnTo>
                  <a:lnTo>
                    <a:pt x="2760472" y="1891919"/>
                  </a:lnTo>
                  <a:lnTo>
                    <a:pt x="2283333" y="1418971"/>
                  </a:lnTo>
                  <a:lnTo>
                    <a:pt x="2521966" y="1418971"/>
                  </a:lnTo>
                  <a:lnTo>
                    <a:pt x="2521966" y="1229360"/>
                  </a:lnTo>
                  <a:lnTo>
                    <a:pt x="0" y="1229360"/>
                  </a:lnTo>
                  <a:close/>
                </a:path>
              </a:pathLst>
            </a:custGeom>
            <a:solidFill>
              <a:srgbClr val="CC000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546217" cy="1918589"/>
            </a:xfrm>
            <a:custGeom>
              <a:avLst/>
              <a:gdLst/>
              <a:ahLst/>
              <a:cxnLst/>
              <a:rect r="r" b="b" t="t" l="l"/>
              <a:pathLst>
                <a:path h="1918589" w="5546217">
                  <a:moveTo>
                    <a:pt x="12700" y="0"/>
                  </a:moveTo>
                  <a:lnTo>
                    <a:pt x="5533517" y="0"/>
                  </a:lnTo>
                  <a:cubicBezTo>
                    <a:pt x="5540502" y="0"/>
                    <a:pt x="5546217" y="5715"/>
                    <a:pt x="5546217" y="12700"/>
                  </a:cubicBezTo>
                  <a:lnTo>
                    <a:pt x="5546217" y="1242060"/>
                  </a:lnTo>
                  <a:cubicBezTo>
                    <a:pt x="5546217" y="1249045"/>
                    <a:pt x="5540502" y="1254760"/>
                    <a:pt x="5533517" y="1254760"/>
                  </a:cubicBezTo>
                  <a:lnTo>
                    <a:pt x="3011678" y="1254760"/>
                  </a:lnTo>
                  <a:lnTo>
                    <a:pt x="3011678" y="1242060"/>
                  </a:lnTo>
                  <a:lnTo>
                    <a:pt x="3024378" y="1242060"/>
                  </a:lnTo>
                  <a:lnTo>
                    <a:pt x="3024378" y="1431671"/>
                  </a:lnTo>
                  <a:lnTo>
                    <a:pt x="3011678" y="1431671"/>
                  </a:lnTo>
                  <a:lnTo>
                    <a:pt x="3011678" y="1418971"/>
                  </a:lnTo>
                  <a:lnTo>
                    <a:pt x="3250311" y="1418971"/>
                  </a:lnTo>
                  <a:cubicBezTo>
                    <a:pt x="3255518" y="1418971"/>
                    <a:pt x="3260090" y="1422019"/>
                    <a:pt x="3261995" y="1426845"/>
                  </a:cubicBezTo>
                  <a:cubicBezTo>
                    <a:pt x="3263900" y="1431671"/>
                    <a:pt x="3262884" y="1437132"/>
                    <a:pt x="3259201" y="1440688"/>
                  </a:cubicBezTo>
                  <a:lnTo>
                    <a:pt x="2782062" y="1913636"/>
                  </a:lnTo>
                  <a:cubicBezTo>
                    <a:pt x="2777109" y="1918589"/>
                    <a:pt x="2769108" y="1918589"/>
                    <a:pt x="2764155" y="1913636"/>
                  </a:cubicBezTo>
                  <a:lnTo>
                    <a:pt x="2287016" y="1440688"/>
                  </a:lnTo>
                  <a:cubicBezTo>
                    <a:pt x="2283333" y="1437005"/>
                    <a:pt x="2282317" y="1431544"/>
                    <a:pt x="2284222" y="1426845"/>
                  </a:cubicBezTo>
                  <a:cubicBezTo>
                    <a:pt x="2286127" y="1422146"/>
                    <a:pt x="2290826" y="1418971"/>
                    <a:pt x="2295906" y="1418971"/>
                  </a:cubicBezTo>
                  <a:lnTo>
                    <a:pt x="2534539" y="1418971"/>
                  </a:lnTo>
                  <a:lnTo>
                    <a:pt x="2534539" y="1431671"/>
                  </a:lnTo>
                  <a:lnTo>
                    <a:pt x="2521839" y="1431671"/>
                  </a:lnTo>
                  <a:lnTo>
                    <a:pt x="2521839" y="1242060"/>
                  </a:lnTo>
                  <a:lnTo>
                    <a:pt x="2534539" y="1242060"/>
                  </a:lnTo>
                  <a:lnTo>
                    <a:pt x="2534539" y="1254760"/>
                  </a:lnTo>
                  <a:lnTo>
                    <a:pt x="12700" y="1254760"/>
                  </a:lnTo>
                  <a:cubicBezTo>
                    <a:pt x="5715" y="1254760"/>
                    <a:pt x="0" y="1249045"/>
                    <a:pt x="0" y="124206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242060"/>
                  </a:lnTo>
                  <a:lnTo>
                    <a:pt x="12700" y="1242060"/>
                  </a:lnTo>
                  <a:lnTo>
                    <a:pt x="12700" y="1229360"/>
                  </a:lnTo>
                  <a:lnTo>
                    <a:pt x="2534539" y="1229360"/>
                  </a:lnTo>
                  <a:cubicBezTo>
                    <a:pt x="2541524" y="1229360"/>
                    <a:pt x="2547239" y="1235075"/>
                    <a:pt x="2547239" y="1242060"/>
                  </a:cubicBezTo>
                  <a:lnTo>
                    <a:pt x="2547239" y="1431671"/>
                  </a:lnTo>
                  <a:cubicBezTo>
                    <a:pt x="2547239" y="1438656"/>
                    <a:pt x="2541524" y="1444371"/>
                    <a:pt x="2534539" y="1444371"/>
                  </a:cubicBezTo>
                  <a:lnTo>
                    <a:pt x="2295906" y="1444371"/>
                  </a:lnTo>
                  <a:lnTo>
                    <a:pt x="2295906" y="1431671"/>
                  </a:lnTo>
                  <a:lnTo>
                    <a:pt x="2304796" y="1422654"/>
                  </a:lnTo>
                  <a:lnTo>
                    <a:pt x="2781935" y="1895602"/>
                  </a:lnTo>
                  <a:lnTo>
                    <a:pt x="2773045" y="1904619"/>
                  </a:lnTo>
                  <a:lnTo>
                    <a:pt x="2764155" y="1895602"/>
                  </a:lnTo>
                  <a:lnTo>
                    <a:pt x="3241294" y="1422654"/>
                  </a:lnTo>
                  <a:lnTo>
                    <a:pt x="3250184" y="1431671"/>
                  </a:lnTo>
                  <a:lnTo>
                    <a:pt x="3250184" y="1444371"/>
                  </a:lnTo>
                  <a:lnTo>
                    <a:pt x="3011678" y="1444371"/>
                  </a:lnTo>
                  <a:cubicBezTo>
                    <a:pt x="3004693" y="1444371"/>
                    <a:pt x="2998978" y="1438656"/>
                    <a:pt x="2998978" y="1431671"/>
                  </a:cubicBezTo>
                  <a:lnTo>
                    <a:pt x="2998978" y="1242060"/>
                  </a:lnTo>
                  <a:cubicBezTo>
                    <a:pt x="2998978" y="1235075"/>
                    <a:pt x="3004693" y="1229360"/>
                    <a:pt x="3011678" y="1229360"/>
                  </a:cubicBezTo>
                  <a:lnTo>
                    <a:pt x="5533517" y="1229360"/>
                  </a:lnTo>
                  <a:lnTo>
                    <a:pt x="5533517" y="1242060"/>
                  </a:lnTo>
                  <a:lnTo>
                    <a:pt x="5520817" y="1242060"/>
                  </a:lnTo>
                  <a:lnTo>
                    <a:pt x="5520817" y="12700"/>
                  </a:lnTo>
                  <a:lnTo>
                    <a:pt x="5533517" y="12700"/>
                  </a:lnTo>
                  <a:lnTo>
                    <a:pt x="5533517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595959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5546200" cy="1936450"/>
            </a:xfrm>
            <a:prstGeom prst="rect">
              <a:avLst/>
            </a:prstGeom>
          </p:spPr>
          <p:txBody>
            <a:bodyPr anchor="ctr" rtlCol="false" tIns="59507" lIns="59507" bIns="59507" rIns="59507"/>
            <a:lstStyle/>
            <a:p>
              <a:pPr algn="ctr">
                <a:lnSpc>
                  <a:spcPts val="3654"/>
                </a:lnSpc>
              </a:pPr>
              <a:r>
                <a:rPr lang="en-US" b="true" sz="3045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Deliverables </a:t>
              </a:r>
            </a:p>
            <a:p>
              <a:pPr algn="ctr">
                <a:lnSpc>
                  <a:spcPts val="3654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10931" y="3620475"/>
            <a:ext cx="4845023" cy="2714523"/>
            <a:chOff x="0" y="0"/>
            <a:chExt cx="5520800" cy="30931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520817" cy="3093143"/>
            </a:xfrm>
            <a:custGeom>
              <a:avLst/>
              <a:gdLst/>
              <a:ahLst/>
              <a:cxnLst/>
              <a:rect r="r" b="b" t="t" l="l"/>
              <a:pathLst>
                <a:path h="3093143" w="5520817">
                  <a:moveTo>
                    <a:pt x="0" y="0"/>
                  </a:moveTo>
                  <a:lnTo>
                    <a:pt x="5520817" y="0"/>
                  </a:lnTo>
                  <a:lnTo>
                    <a:pt x="5520817" y="3093143"/>
                  </a:lnTo>
                  <a:lnTo>
                    <a:pt x="0" y="3093143"/>
                  </a:lnTo>
                  <a:close/>
                </a:path>
              </a:pathLst>
            </a:custGeom>
            <a:solidFill>
              <a:srgbClr val="C1EAFE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5520800" cy="3121715"/>
            </a:xfrm>
            <a:prstGeom prst="rect">
              <a:avLst/>
            </a:prstGeom>
          </p:spPr>
          <p:txBody>
            <a:bodyPr anchor="ctr" rtlCol="false" tIns="59442" lIns="59442" bIns="59442" rIns="59442"/>
            <a:lstStyle/>
            <a:p>
              <a:pPr algn="ctr">
                <a:lnSpc>
                  <a:spcPts val="4212"/>
                </a:lnSpc>
              </a:pPr>
              <a:r>
                <a:rPr lang="en-US" sz="351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Phase 1: Design &amp; Setup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540094" y="3725527"/>
            <a:ext cx="5764592" cy="2609471"/>
            <a:chOff x="0" y="0"/>
            <a:chExt cx="6547609" cy="296392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547626" cy="2963924"/>
            </a:xfrm>
            <a:custGeom>
              <a:avLst/>
              <a:gdLst/>
              <a:ahLst/>
              <a:cxnLst/>
              <a:rect r="r" b="b" t="t" l="l"/>
              <a:pathLst>
                <a:path h="2963924" w="6547626">
                  <a:moveTo>
                    <a:pt x="0" y="0"/>
                  </a:moveTo>
                  <a:lnTo>
                    <a:pt x="6547626" y="0"/>
                  </a:lnTo>
                  <a:lnTo>
                    <a:pt x="6547626" y="2963924"/>
                  </a:lnTo>
                  <a:lnTo>
                    <a:pt x="0" y="2963924"/>
                  </a:lnTo>
                  <a:close/>
                </a:path>
              </a:pathLst>
            </a:custGeom>
            <a:solidFill>
              <a:srgbClr val="C1EAFE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6547609" cy="3011546"/>
            </a:xfrm>
            <a:prstGeom prst="rect">
              <a:avLst/>
            </a:prstGeom>
          </p:spPr>
          <p:txBody>
            <a:bodyPr anchor="ctr" rtlCol="false" tIns="59633" lIns="59633" bIns="59633" rIns="59633"/>
            <a:lstStyle/>
            <a:p>
              <a:pPr algn="l" marL="828813" indent="-414407" lvl="1">
                <a:lnSpc>
                  <a:spcPts val="2267"/>
                </a:lnSpc>
                <a:buFont typeface="Arial"/>
                <a:buChar char="•"/>
              </a:pPr>
              <a:r>
                <a:rPr lang="en-US" b="true" sz="1643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Selected Random Word API &amp; Dictionary API</a:t>
              </a:r>
            </a:p>
            <a:p>
              <a:pPr algn="l" marL="828813" indent="-414407" lvl="1">
                <a:lnSpc>
                  <a:spcPts val="2267"/>
                </a:lnSpc>
                <a:buFont typeface="Arial"/>
                <a:buChar char="•"/>
              </a:pPr>
              <a:r>
                <a:rPr lang="en-US" b="true" sz="1643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Designed flow: Name → Avatar → Accent → Level → Game → Game Over</a:t>
              </a:r>
            </a:p>
            <a:p>
              <a:pPr algn="l" marL="828813" indent="-414407" lvl="1">
                <a:lnSpc>
                  <a:spcPts val="2267"/>
                </a:lnSpc>
                <a:buFont typeface="Arial"/>
                <a:buChar char="•"/>
              </a:pPr>
              <a:r>
                <a:rPr lang="en-US" b="true" sz="1643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Created HTML structure with multiple &lt;section&gt; screens</a:t>
              </a:r>
            </a:p>
            <a:p>
              <a:pPr algn="l" marL="828813" indent="-414407" lvl="1">
                <a:lnSpc>
                  <a:spcPts val="2267"/>
                </a:lnSpc>
                <a:buFont typeface="Arial"/>
                <a:buChar char="•"/>
              </a:pPr>
              <a:r>
                <a:rPr lang="en-US" b="true" sz="1643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Added &lt;meta&gt; tags for responsive design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656364" y="3734775"/>
            <a:ext cx="5320700" cy="2295194"/>
            <a:chOff x="0" y="0"/>
            <a:chExt cx="5520800" cy="238151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520817" cy="2381515"/>
            </a:xfrm>
            <a:custGeom>
              <a:avLst/>
              <a:gdLst/>
              <a:ahLst/>
              <a:cxnLst/>
              <a:rect r="r" b="b" t="t" l="l"/>
              <a:pathLst>
                <a:path h="2381515" w="5520817">
                  <a:moveTo>
                    <a:pt x="0" y="0"/>
                  </a:moveTo>
                  <a:lnTo>
                    <a:pt x="5520817" y="0"/>
                  </a:lnTo>
                  <a:lnTo>
                    <a:pt x="5520817" y="2381515"/>
                  </a:lnTo>
                  <a:lnTo>
                    <a:pt x="0" y="2381515"/>
                  </a:lnTo>
                  <a:close/>
                </a:path>
              </a:pathLst>
            </a:custGeom>
            <a:solidFill>
              <a:srgbClr val="C1EAFE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5520800" cy="2429137"/>
            </a:xfrm>
            <a:prstGeom prst="rect">
              <a:avLst/>
            </a:prstGeom>
          </p:spPr>
          <p:txBody>
            <a:bodyPr anchor="ctr" rtlCol="false" tIns="65278" lIns="65278" bIns="65278" rIns="65278"/>
            <a:lstStyle/>
            <a:p>
              <a:pPr algn="l" marL="952803" indent="-476402" lvl="1">
                <a:lnSpc>
                  <a:spcPts val="2837"/>
                </a:lnSpc>
                <a:buFont typeface="Arial"/>
                <a:buChar char="•"/>
              </a:pPr>
              <a:r>
                <a:rPr lang="en-US" sz="2056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HTML wireframe</a:t>
              </a:r>
            </a:p>
            <a:p>
              <a:pPr algn="l" marL="952803" indent="-476402" lvl="1">
                <a:lnSpc>
                  <a:spcPts val="2837"/>
                </a:lnSpc>
                <a:buFont typeface="Arial"/>
                <a:buChar char="•"/>
              </a:pPr>
              <a:r>
                <a:rPr lang="en-US" sz="2056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Basic CSS theme (black-yellow bee theme)</a:t>
              </a:r>
            </a:p>
            <a:p>
              <a:pPr algn="l" marL="952803" indent="-476402" lvl="1">
                <a:lnSpc>
                  <a:spcPts val="2837"/>
                </a:lnSpc>
                <a:buFont typeface="Arial"/>
                <a:buChar char="•"/>
              </a:pPr>
              <a:r>
                <a:rPr lang="en-US" sz="2056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Page layout centered using .container class</a:t>
              </a:r>
            </a:p>
          </p:txBody>
        </p:sp>
      </p:grpSp>
      <p:sp>
        <p:nvSpPr>
          <p:cNvPr name="AutoShape 22" id="22"/>
          <p:cNvSpPr/>
          <p:nvPr/>
        </p:nvSpPr>
        <p:spPr>
          <a:xfrm rot="4705">
            <a:off x="632168" y="942842"/>
            <a:ext cx="13918063" cy="0"/>
          </a:xfrm>
          <a:prstGeom prst="line">
            <a:avLst/>
          </a:prstGeom>
          <a:ln cap="rnd" w="9525">
            <a:solidFill>
              <a:srgbClr val="5959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3" id="23"/>
          <p:cNvSpPr txBox="true"/>
          <p:nvPr/>
        </p:nvSpPr>
        <p:spPr>
          <a:xfrm rot="0">
            <a:off x="830317" y="111550"/>
            <a:ext cx="1252995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PROJECT SCOPE &amp; DELIVERABLES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110931" y="7080222"/>
            <a:ext cx="4845023" cy="2651057"/>
            <a:chOff x="0" y="0"/>
            <a:chExt cx="5520800" cy="302082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520817" cy="3020825"/>
            </a:xfrm>
            <a:custGeom>
              <a:avLst/>
              <a:gdLst/>
              <a:ahLst/>
              <a:cxnLst/>
              <a:rect r="r" b="b" t="t" l="l"/>
              <a:pathLst>
                <a:path h="3020825" w="5520817">
                  <a:moveTo>
                    <a:pt x="0" y="0"/>
                  </a:moveTo>
                  <a:lnTo>
                    <a:pt x="5520817" y="0"/>
                  </a:lnTo>
                  <a:lnTo>
                    <a:pt x="5520817" y="3020825"/>
                  </a:lnTo>
                  <a:lnTo>
                    <a:pt x="0" y="3020825"/>
                  </a:lnTo>
                  <a:close/>
                </a:path>
              </a:pathLst>
            </a:custGeom>
            <a:solidFill>
              <a:srgbClr val="B6E2B6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5520800" cy="3039872"/>
            </a:xfrm>
            <a:prstGeom prst="rect">
              <a:avLst/>
            </a:prstGeom>
          </p:spPr>
          <p:txBody>
            <a:bodyPr anchor="ctr" rtlCol="false" tIns="59442" lIns="59442" bIns="59442" rIns="59442"/>
            <a:lstStyle/>
            <a:p>
              <a:pPr algn="ctr">
                <a:lnSpc>
                  <a:spcPts val="4072"/>
                </a:lnSpc>
              </a:pPr>
              <a:r>
                <a:rPr lang="en-US" sz="3393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Phase 2: Development &amp; Integration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495468" y="6957887"/>
            <a:ext cx="5809217" cy="2921446"/>
            <a:chOff x="0" y="0"/>
            <a:chExt cx="7275482" cy="365882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275499" cy="3658831"/>
            </a:xfrm>
            <a:custGeom>
              <a:avLst/>
              <a:gdLst/>
              <a:ahLst/>
              <a:cxnLst/>
              <a:rect r="r" b="b" t="t" l="l"/>
              <a:pathLst>
                <a:path h="3658831" w="7275499">
                  <a:moveTo>
                    <a:pt x="0" y="0"/>
                  </a:moveTo>
                  <a:lnTo>
                    <a:pt x="7275499" y="0"/>
                  </a:lnTo>
                  <a:lnTo>
                    <a:pt x="7275499" y="3658831"/>
                  </a:lnTo>
                  <a:lnTo>
                    <a:pt x="0" y="3658831"/>
                  </a:lnTo>
                  <a:close/>
                </a:path>
              </a:pathLst>
            </a:custGeom>
            <a:solidFill>
              <a:srgbClr val="B6E2B6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7275482" cy="3706453"/>
            </a:xfrm>
            <a:prstGeom prst="rect">
              <a:avLst/>
            </a:prstGeom>
          </p:spPr>
          <p:txBody>
            <a:bodyPr anchor="ctr" rtlCol="false" tIns="54083" lIns="54083" bIns="54083" rIns="54083"/>
            <a:lstStyle/>
            <a:p>
              <a:pPr algn="l" marL="896151" indent="-448076" lvl="1">
                <a:lnSpc>
                  <a:spcPts val="2452"/>
                </a:lnSpc>
                <a:buFont typeface="Arial"/>
                <a:buChar char="•"/>
              </a:pPr>
              <a:r>
                <a:rPr lang="en-US" sz="1776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Used fetch() + async/await for API calls</a:t>
              </a:r>
            </a:p>
            <a:p>
              <a:pPr algn="l" marL="896151" indent="-448076" lvl="1">
                <a:lnSpc>
                  <a:spcPts val="2452"/>
                </a:lnSpc>
                <a:buFont typeface="Arial"/>
                <a:buChar char="•"/>
              </a:pPr>
              <a:r>
                <a:rPr lang="en-US" sz="1776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Added functions: getWord() &amp; getMeaning()</a:t>
              </a:r>
            </a:p>
            <a:p>
              <a:pPr algn="l" marL="896151" indent="-448076" lvl="1">
                <a:lnSpc>
                  <a:spcPts val="2452"/>
                </a:lnSpc>
                <a:buFont typeface="Arial"/>
                <a:buChar char="•"/>
              </a:pPr>
              <a:r>
                <a:rPr lang="en-US" sz="1776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Implemented interactivity via buttons, avatars, flags, and levels</a:t>
              </a:r>
            </a:p>
            <a:p>
              <a:pPr algn="l" marL="896151" indent="-448076" lvl="1">
                <a:lnSpc>
                  <a:spcPts val="2452"/>
                </a:lnSpc>
                <a:buFont typeface="Arial"/>
                <a:buChar char="•"/>
              </a:pPr>
              <a:r>
                <a:rPr lang="en-US" sz="1776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Used  built-in(inside the js) SpeechSynthesis to pronounce words in the chosen accent</a:t>
              </a:r>
            </a:p>
            <a:p>
              <a:pPr algn="l" marL="896151" indent="-448076" lvl="1">
                <a:lnSpc>
                  <a:spcPts val="2452"/>
                </a:lnSpc>
                <a:buFont typeface="Arial"/>
                <a:buChar char="•"/>
              </a:pPr>
              <a:r>
                <a:rPr lang="en-US" sz="1776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Dynamic DOM updates for score, timer, and meanings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2656364" y="7328658"/>
            <a:ext cx="5320700" cy="1994425"/>
            <a:chOff x="0" y="0"/>
            <a:chExt cx="7094266" cy="265923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094283" cy="2659237"/>
            </a:xfrm>
            <a:custGeom>
              <a:avLst/>
              <a:gdLst/>
              <a:ahLst/>
              <a:cxnLst/>
              <a:rect r="r" b="b" t="t" l="l"/>
              <a:pathLst>
                <a:path h="2659237" w="7094283">
                  <a:moveTo>
                    <a:pt x="0" y="0"/>
                  </a:moveTo>
                  <a:lnTo>
                    <a:pt x="7094283" y="0"/>
                  </a:lnTo>
                  <a:lnTo>
                    <a:pt x="7094283" y="2659237"/>
                  </a:lnTo>
                  <a:lnTo>
                    <a:pt x="0" y="2659237"/>
                  </a:lnTo>
                  <a:close/>
                </a:path>
              </a:pathLst>
            </a:custGeom>
            <a:solidFill>
              <a:srgbClr val="B6E2B6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7094266" cy="27068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880499" indent="-440250" lvl="1">
                <a:lnSpc>
                  <a:spcPts val="2621"/>
                </a:lnSpc>
                <a:buFont typeface="Arial"/>
                <a:buChar char="•"/>
              </a:pPr>
              <a:r>
                <a:rPr lang="en-US" sz="18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Working prototype</a:t>
              </a:r>
            </a:p>
            <a:p>
              <a:pPr algn="l" marL="880499" indent="-440250" lvl="1">
                <a:lnSpc>
                  <a:spcPts val="2621"/>
                </a:lnSpc>
                <a:buFont typeface="Arial"/>
                <a:buChar char="•"/>
              </a:pPr>
              <a:r>
                <a:rPr lang="en-US" sz="18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Updated DOM with API results</a:t>
              </a:r>
            </a:p>
            <a:p>
              <a:pPr algn="l" marL="880499" indent="-440250" lvl="1">
                <a:lnSpc>
                  <a:spcPts val="2621"/>
                </a:lnSpc>
                <a:buFont typeface="Arial"/>
                <a:buChar char="•"/>
              </a:pPr>
              <a:r>
                <a:rPr lang="en-US" sz="18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Buttons using .primary and .secondary classes for styling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49673" y="2043850"/>
            <a:ext cx="4140600" cy="1315264"/>
            <a:chOff x="0" y="0"/>
            <a:chExt cx="5520800" cy="17536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520817" cy="1753610"/>
            </a:xfrm>
            <a:custGeom>
              <a:avLst/>
              <a:gdLst/>
              <a:ahLst/>
              <a:cxnLst/>
              <a:rect r="r" b="b" t="t" l="l"/>
              <a:pathLst>
                <a:path h="1753610" w="5520817">
                  <a:moveTo>
                    <a:pt x="0" y="0"/>
                  </a:moveTo>
                  <a:lnTo>
                    <a:pt x="5520817" y="0"/>
                  </a:lnTo>
                  <a:lnTo>
                    <a:pt x="5520817" y="1139488"/>
                  </a:lnTo>
                  <a:lnTo>
                    <a:pt x="2996946" y="1139488"/>
                  </a:lnTo>
                  <a:lnTo>
                    <a:pt x="2996946" y="1315237"/>
                  </a:lnTo>
                  <a:lnTo>
                    <a:pt x="3233420" y="1315237"/>
                  </a:lnTo>
                  <a:lnTo>
                    <a:pt x="2760472" y="1753610"/>
                  </a:lnTo>
                  <a:lnTo>
                    <a:pt x="2287524" y="1315237"/>
                  </a:lnTo>
                  <a:lnTo>
                    <a:pt x="2523998" y="1315237"/>
                  </a:lnTo>
                  <a:lnTo>
                    <a:pt x="2523998" y="1139488"/>
                  </a:lnTo>
                  <a:lnTo>
                    <a:pt x="0" y="1139488"/>
                  </a:lnTo>
                  <a:close/>
                </a:path>
              </a:pathLst>
            </a:custGeom>
            <a:solidFill>
              <a:srgbClr val="3FACE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5520800" cy="1772735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b="true" sz="2799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Phase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222931" y="2024800"/>
            <a:ext cx="4159650" cy="1153931"/>
            <a:chOff x="0" y="0"/>
            <a:chExt cx="5546200" cy="15385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10191"/>
              <a:ext cx="5520817" cy="1518128"/>
            </a:xfrm>
            <a:custGeom>
              <a:avLst/>
              <a:gdLst/>
              <a:ahLst/>
              <a:cxnLst/>
              <a:rect r="r" b="b" t="t" l="l"/>
              <a:pathLst>
                <a:path h="1518128" w="5520817">
                  <a:moveTo>
                    <a:pt x="0" y="0"/>
                  </a:moveTo>
                  <a:lnTo>
                    <a:pt x="5520817" y="0"/>
                  </a:lnTo>
                  <a:lnTo>
                    <a:pt x="5520817" y="986472"/>
                  </a:lnTo>
                  <a:lnTo>
                    <a:pt x="2998978" y="986472"/>
                  </a:lnTo>
                  <a:lnTo>
                    <a:pt x="2998978" y="1138621"/>
                  </a:lnTo>
                  <a:lnTo>
                    <a:pt x="3237611" y="1138621"/>
                  </a:lnTo>
                  <a:lnTo>
                    <a:pt x="2760472" y="1518128"/>
                  </a:lnTo>
                  <a:lnTo>
                    <a:pt x="2283333" y="1138621"/>
                  </a:lnTo>
                  <a:lnTo>
                    <a:pt x="2521966" y="1138621"/>
                  </a:lnTo>
                  <a:lnTo>
                    <a:pt x="2521966" y="986472"/>
                  </a:lnTo>
                  <a:lnTo>
                    <a:pt x="0" y="986472"/>
                  </a:lnTo>
                  <a:close/>
                </a:path>
              </a:pathLst>
            </a:custGeom>
            <a:solidFill>
              <a:srgbClr val="08356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546217" cy="1539764"/>
            </a:xfrm>
            <a:custGeom>
              <a:avLst/>
              <a:gdLst/>
              <a:ahLst/>
              <a:cxnLst/>
              <a:rect r="r" b="b" t="t" l="l"/>
              <a:pathLst>
                <a:path h="1539764" w="5546217">
                  <a:moveTo>
                    <a:pt x="12700" y="0"/>
                  </a:moveTo>
                  <a:lnTo>
                    <a:pt x="5533517" y="0"/>
                  </a:lnTo>
                  <a:cubicBezTo>
                    <a:pt x="5540502" y="0"/>
                    <a:pt x="5546217" y="4586"/>
                    <a:pt x="5546217" y="10191"/>
                  </a:cubicBezTo>
                  <a:lnTo>
                    <a:pt x="5546217" y="996663"/>
                  </a:lnTo>
                  <a:cubicBezTo>
                    <a:pt x="5546217" y="1002268"/>
                    <a:pt x="5540502" y="1006854"/>
                    <a:pt x="5533517" y="1006854"/>
                  </a:cubicBezTo>
                  <a:lnTo>
                    <a:pt x="3011678" y="1006854"/>
                  </a:lnTo>
                  <a:lnTo>
                    <a:pt x="3011678" y="996663"/>
                  </a:lnTo>
                  <a:lnTo>
                    <a:pt x="3024378" y="996663"/>
                  </a:lnTo>
                  <a:lnTo>
                    <a:pt x="3024378" y="1148812"/>
                  </a:lnTo>
                  <a:lnTo>
                    <a:pt x="3011678" y="1148812"/>
                  </a:lnTo>
                  <a:lnTo>
                    <a:pt x="3011678" y="1138622"/>
                  </a:lnTo>
                  <a:lnTo>
                    <a:pt x="3250311" y="1138622"/>
                  </a:lnTo>
                  <a:cubicBezTo>
                    <a:pt x="3255518" y="1138622"/>
                    <a:pt x="3260090" y="1141067"/>
                    <a:pt x="3261995" y="1144940"/>
                  </a:cubicBezTo>
                  <a:cubicBezTo>
                    <a:pt x="3263900" y="1148812"/>
                    <a:pt x="3262884" y="1153195"/>
                    <a:pt x="3259201" y="1156048"/>
                  </a:cubicBezTo>
                  <a:lnTo>
                    <a:pt x="2782062" y="1535555"/>
                  </a:lnTo>
                  <a:cubicBezTo>
                    <a:pt x="2777109" y="1539764"/>
                    <a:pt x="2769108" y="1539764"/>
                    <a:pt x="2764155" y="1535555"/>
                  </a:cubicBezTo>
                  <a:lnTo>
                    <a:pt x="2287016" y="1156048"/>
                  </a:lnTo>
                  <a:cubicBezTo>
                    <a:pt x="2283333" y="1153093"/>
                    <a:pt x="2282317" y="1148711"/>
                    <a:pt x="2284222" y="1144940"/>
                  </a:cubicBezTo>
                  <a:cubicBezTo>
                    <a:pt x="2286127" y="1141169"/>
                    <a:pt x="2290826" y="1138622"/>
                    <a:pt x="2295906" y="1138622"/>
                  </a:cubicBezTo>
                  <a:lnTo>
                    <a:pt x="2534539" y="1138622"/>
                  </a:lnTo>
                  <a:lnTo>
                    <a:pt x="2534539" y="1148812"/>
                  </a:lnTo>
                  <a:lnTo>
                    <a:pt x="2521839" y="1148812"/>
                  </a:lnTo>
                  <a:lnTo>
                    <a:pt x="2521839" y="996663"/>
                  </a:lnTo>
                  <a:lnTo>
                    <a:pt x="2534539" y="996663"/>
                  </a:lnTo>
                  <a:lnTo>
                    <a:pt x="2534539" y="1006854"/>
                  </a:lnTo>
                  <a:lnTo>
                    <a:pt x="12700" y="1006854"/>
                  </a:lnTo>
                  <a:cubicBezTo>
                    <a:pt x="5715" y="1006854"/>
                    <a:pt x="0" y="1002268"/>
                    <a:pt x="0" y="996663"/>
                  </a:cubicBezTo>
                  <a:lnTo>
                    <a:pt x="0" y="10191"/>
                  </a:lnTo>
                  <a:cubicBezTo>
                    <a:pt x="0" y="4586"/>
                    <a:pt x="5715" y="0"/>
                    <a:pt x="12700" y="0"/>
                  </a:cubicBezTo>
                  <a:moveTo>
                    <a:pt x="12700" y="20382"/>
                  </a:moveTo>
                  <a:lnTo>
                    <a:pt x="12700" y="10191"/>
                  </a:lnTo>
                  <a:lnTo>
                    <a:pt x="25400" y="10191"/>
                  </a:lnTo>
                  <a:lnTo>
                    <a:pt x="25400" y="996663"/>
                  </a:lnTo>
                  <a:lnTo>
                    <a:pt x="12700" y="996663"/>
                  </a:lnTo>
                  <a:lnTo>
                    <a:pt x="12700" y="986473"/>
                  </a:lnTo>
                  <a:lnTo>
                    <a:pt x="2534539" y="986473"/>
                  </a:lnTo>
                  <a:cubicBezTo>
                    <a:pt x="2541524" y="986473"/>
                    <a:pt x="2547239" y="991058"/>
                    <a:pt x="2547239" y="996663"/>
                  </a:cubicBezTo>
                  <a:lnTo>
                    <a:pt x="2547239" y="1148812"/>
                  </a:lnTo>
                  <a:cubicBezTo>
                    <a:pt x="2547239" y="1154418"/>
                    <a:pt x="2541524" y="1159003"/>
                    <a:pt x="2534539" y="1159003"/>
                  </a:cubicBezTo>
                  <a:lnTo>
                    <a:pt x="2295906" y="1159003"/>
                  </a:lnTo>
                  <a:lnTo>
                    <a:pt x="2295906" y="1148812"/>
                  </a:lnTo>
                  <a:lnTo>
                    <a:pt x="2304796" y="1141577"/>
                  </a:lnTo>
                  <a:lnTo>
                    <a:pt x="2781935" y="1521084"/>
                  </a:lnTo>
                  <a:lnTo>
                    <a:pt x="2773045" y="1528319"/>
                  </a:lnTo>
                  <a:lnTo>
                    <a:pt x="2764155" y="1521084"/>
                  </a:lnTo>
                  <a:lnTo>
                    <a:pt x="3241294" y="1141577"/>
                  </a:lnTo>
                  <a:lnTo>
                    <a:pt x="3250184" y="1148812"/>
                  </a:lnTo>
                  <a:lnTo>
                    <a:pt x="3250184" y="1159003"/>
                  </a:lnTo>
                  <a:lnTo>
                    <a:pt x="3011678" y="1159003"/>
                  </a:lnTo>
                  <a:cubicBezTo>
                    <a:pt x="3004693" y="1159003"/>
                    <a:pt x="2998978" y="1154418"/>
                    <a:pt x="2998978" y="1148812"/>
                  </a:cubicBezTo>
                  <a:lnTo>
                    <a:pt x="2998978" y="996663"/>
                  </a:lnTo>
                  <a:cubicBezTo>
                    <a:pt x="2998978" y="991058"/>
                    <a:pt x="3004693" y="986473"/>
                    <a:pt x="3011678" y="986473"/>
                  </a:cubicBezTo>
                  <a:lnTo>
                    <a:pt x="5533517" y="986473"/>
                  </a:lnTo>
                  <a:lnTo>
                    <a:pt x="5533517" y="996663"/>
                  </a:lnTo>
                  <a:lnTo>
                    <a:pt x="5520817" y="996663"/>
                  </a:lnTo>
                  <a:lnTo>
                    <a:pt x="5520817" y="10191"/>
                  </a:lnTo>
                  <a:lnTo>
                    <a:pt x="5533517" y="10191"/>
                  </a:lnTo>
                  <a:lnTo>
                    <a:pt x="5533517" y="20382"/>
                  </a:lnTo>
                  <a:lnTo>
                    <a:pt x="12700" y="20382"/>
                  </a:lnTo>
                  <a:close/>
                </a:path>
              </a:pathLst>
            </a:custGeom>
            <a:solidFill>
              <a:srgbClr val="59595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5546200" cy="1557625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3120"/>
                </a:lnSpc>
              </a:pPr>
              <a:r>
                <a:rPr lang="en-US" b="true" sz="26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Scope 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707301" y="1921064"/>
            <a:ext cx="4159650" cy="1257667"/>
            <a:chOff x="0" y="0"/>
            <a:chExt cx="5546200" cy="167688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2700" y="11107"/>
              <a:ext cx="5520817" cy="1654605"/>
            </a:xfrm>
            <a:custGeom>
              <a:avLst/>
              <a:gdLst/>
              <a:ahLst/>
              <a:cxnLst/>
              <a:rect r="r" b="b" t="t" l="l"/>
              <a:pathLst>
                <a:path h="1654605" w="5520817">
                  <a:moveTo>
                    <a:pt x="0" y="0"/>
                  </a:moveTo>
                  <a:lnTo>
                    <a:pt x="5520817" y="0"/>
                  </a:lnTo>
                  <a:lnTo>
                    <a:pt x="5520817" y="1075154"/>
                  </a:lnTo>
                  <a:lnTo>
                    <a:pt x="2998978" y="1075154"/>
                  </a:lnTo>
                  <a:lnTo>
                    <a:pt x="2998978" y="1240981"/>
                  </a:lnTo>
                  <a:lnTo>
                    <a:pt x="3237611" y="1240981"/>
                  </a:lnTo>
                  <a:lnTo>
                    <a:pt x="2760472" y="1654605"/>
                  </a:lnTo>
                  <a:lnTo>
                    <a:pt x="2283333" y="1240981"/>
                  </a:lnTo>
                  <a:lnTo>
                    <a:pt x="2521966" y="1240981"/>
                  </a:lnTo>
                  <a:lnTo>
                    <a:pt x="2521966" y="1075154"/>
                  </a:lnTo>
                  <a:lnTo>
                    <a:pt x="0" y="1075154"/>
                  </a:lnTo>
                  <a:close/>
                </a:path>
              </a:pathLst>
            </a:custGeom>
            <a:solidFill>
              <a:srgbClr val="CC000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546217" cy="1678079"/>
            </a:xfrm>
            <a:custGeom>
              <a:avLst/>
              <a:gdLst/>
              <a:ahLst/>
              <a:cxnLst/>
              <a:rect r="r" b="b" t="t" l="l"/>
              <a:pathLst>
                <a:path h="1678079" w="5546217">
                  <a:moveTo>
                    <a:pt x="12700" y="0"/>
                  </a:moveTo>
                  <a:lnTo>
                    <a:pt x="5533517" y="0"/>
                  </a:lnTo>
                  <a:cubicBezTo>
                    <a:pt x="5540502" y="0"/>
                    <a:pt x="5546217" y="4998"/>
                    <a:pt x="5546217" y="11107"/>
                  </a:cubicBezTo>
                  <a:lnTo>
                    <a:pt x="5546217" y="1086261"/>
                  </a:lnTo>
                  <a:cubicBezTo>
                    <a:pt x="5546217" y="1092370"/>
                    <a:pt x="5540502" y="1097368"/>
                    <a:pt x="5533517" y="1097368"/>
                  </a:cubicBezTo>
                  <a:lnTo>
                    <a:pt x="3011678" y="1097368"/>
                  </a:lnTo>
                  <a:lnTo>
                    <a:pt x="3011678" y="1086261"/>
                  </a:lnTo>
                  <a:lnTo>
                    <a:pt x="3024378" y="1086261"/>
                  </a:lnTo>
                  <a:lnTo>
                    <a:pt x="3024378" y="1252088"/>
                  </a:lnTo>
                  <a:lnTo>
                    <a:pt x="3011678" y="1252088"/>
                  </a:lnTo>
                  <a:lnTo>
                    <a:pt x="3011678" y="1240981"/>
                  </a:lnTo>
                  <a:lnTo>
                    <a:pt x="3250311" y="1240981"/>
                  </a:lnTo>
                  <a:cubicBezTo>
                    <a:pt x="3255518" y="1240981"/>
                    <a:pt x="3260090" y="1243647"/>
                    <a:pt x="3261995" y="1247868"/>
                  </a:cubicBezTo>
                  <a:cubicBezTo>
                    <a:pt x="3263900" y="1252088"/>
                    <a:pt x="3262884" y="1256864"/>
                    <a:pt x="3259201" y="1259974"/>
                  </a:cubicBezTo>
                  <a:lnTo>
                    <a:pt x="2782062" y="1673598"/>
                  </a:lnTo>
                  <a:cubicBezTo>
                    <a:pt x="2777109" y="1678079"/>
                    <a:pt x="2769108" y="1678079"/>
                    <a:pt x="2764155" y="1673598"/>
                  </a:cubicBezTo>
                  <a:lnTo>
                    <a:pt x="2287016" y="1259974"/>
                  </a:lnTo>
                  <a:cubicBezTo>
                    <a:pt x="2283333" y="1256753"/>
                    <a:pt x="2282317" y="1251977"/>
                    <a:pt x="2284222" y="1247868"/>
                  </a:cubicBezTo>
                  <a:cubicBezTo>
                    <a:pt x="2286127" y="1243758"/>
                    <a:pt x="2290826" y="1240981"/>
                    <a:pt x="2295906" y="1240981"/>
                  </a:cubicBezTo>
                  <a:lnTo>
                    <a:pt x="2534539" y="1240981"/>
                  </a:lnTo>
                  <a:lnTo>
                    <a:pt x="2534539" y="1252088"/>
                  </a:lnTo>
                  <a:lnTo>
                    <a:pt x="2521839" y="1252088"/>
                  </a:lnTo>
                  <a:lnTo>
                    <a:pt x="2521839" y="1086261"/>
                  </a:lnTo>
                  <a:lnTo>
                    <a:pt x="2534539" y="1086261"/>
                  </a:lnTo>
                  <a:lnTo>
                    <a:pt x="2534539" y="1097368"/>
                  </a:lnTo>
                  <a:lnTo>
                    <a:pt x="12700" y="1097368"/>
                  </a:lnTo>
                  <a:cubicBezTo>
                    <a:pt x="5715" y="1097368"/>
                    <a:pt x="0" y="1092370"/>
                    <a:pt x="0" y="1086261"/>
                  </a:cubicBezTo>
                  <a:lnTo>
                    <a:pt x="0" y="11107"/>
                  </a:lnTo>
                  <a:cubicBezTo>
                    <a:pt x="0" y="4998"/>
                    <a:pt x="5715" y="0"/>
                    <a:pt x="12700" y="0"/>
                  </a:cubicBezTo>
                  <a:moveTo>
                    <a:pt x="12700" y="22214"/>
                  </a:moveTo>
                  <a:lnTo>
                    <a:pt x="12700" y="11107"/>
                  </a:lnTo>
                  <a:lnTo>
                    <a:pt x="25400" y="11107"/>
                  </a:lnTo>
                  <a:lnTo>
                    <a:pt x="25400" y="1086261"/>
                  </a:lnTo>
                  <a:lnTo>
                    <a:pt x="12700" y="1086261"/>
                  </a:lnTo>
                  <a:lnTo>
                    <a:pt x="12700" y="1075154"/>
                  </a:lnTo>
                  <a:lnTo>
                    <a:pt x="2534539" y="1075154"/>
                  </a:lnTo>
                  <a:cubicBezTo>
                    <a:pt x="2541524" y="1075154"/>
                    <a:pt x="2547239" y="1080152"/>
                    <a:pt x="2547239" y="1086261"/>
                  </a:cubicBezTo>
                  <a:lnTo>
                    <a:pt x="2547239" y="1252088"/>
                  </a:lnTo>
                  <a:cubicBezTo>
                    <a:pt x="2547239" y="1258197"/>
                    <a:pt x="2541524" y="1263195"/>
                    <a:pt x="2534539" y="1263195"/>
                  </a:cubicBezTo>
                  <a:lnTo>
                    <a:pt x="2295906" y="1263195"/>
                  </a:lnTo>
                  <a:lnTo>
                    <a:pt x="2295906" y="1252088"/>
                  </a:lnTo>
                  <a:lnTo>
                    <a:pt x="2304796" y="1244202"/>
                  </a:lnTo>
                  <a:lnTo>
                    <a:pt x="2781935" y="1657826"/>
                  </a:lnTo>
                  <a:lnTo>
                    <a:pt x="2773045" y="1665712"/>
                  </a:lnTo>
                  <a:lnTo>
                    <a:pt x="2764155" y="1657826"/>
                  </a:lnTo>
                  <a:lnTo>
                    <a:pt x="3241294" y="1244202"/>
                  </a:lnTo>
                  <a:lnTo>
                    <a:pt x="3250184" y="1252088"/>
                  </a:lnTo>
                  <a:lnTo>
                    <a:pt x="3250184" y="1263195"/>
                  </a:lnTo>
                  <a:lnTo>
                    <a:pt x="3011678" y="1263195"/>
                  </a:lnTo>
                  <a:cubicBezTo>
                    <a:pt x="3004693" y="1263195"/>
                    <a:pt x="2998978" y="1258197"/>
                    <a:pt x="2998978" y="1252088"/>
                  </a:cubicBezTo>
                  <a:lnTo>
                    <a:pt x="2998978" y="1086261"/>
                  </a:lnTo>
                  <a:cubicBezTo>
                    <a:pt x="2998978" y="1080152"/>
                    <a:pt x="3004693" y="1075154"/>
                    <a:pt x="3011678" y="1075154"/>
                  </a:cubicBezTo>
                  <a:lnTo>
                    <a:pt x="5533517" y="1075154"/>
                  </a:lnTo>
                  <a:lnTo>
                    <a:pt x="5533517" y="1086261"/>
                  </a:lnTo>
                  <a:lnTo>
                    <a:pt x="5520817" y="1086261"/>
                  </a:lnTo>
                  <a:lnTo>
                    <a:pt x="5520817" y="11107"/>
                  </a:lnTo>
                  <a:lnTo>
                    <a:pt x="5533517" y="11107"/>
                  </a:lnTo>
                  <a:lnTo>
                    <a:pt x="5533517" y="22214"/>
                  </a:lnTo>
                  <a:lnTo>
                    <a:pt x="12700" y="22214"/>
                  </a:lnTo>
                  <a:close/>
                </a:path>
              </a:pathLst>
            </a:custGeom>
            <a:solidFill>
              <a:srgbClr val="595959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5546200" cy="1695939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3120"/>
                </a:lnSpc>
              </a:pPr>
              <a:r>
                <a:rPr lang="en-US" b="true" sz="26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Deliverables 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02552" y="4783762"/>
            <a:ext cx="5452783" cy="2432063"/>
            <a:chOff x="0" y="0"/>
            <a:chExt cx="5520800" cy="2462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520817" cy="2462403"/>
            </a:xfrm>
            <a:custGeom>
              <a:avLst/>
              <a:gdLst/>
              <a:ahLst/>
              <a:cxnLst/>
              <a:rect r="r" b="b" t="t" l="l"/>
              <a:pathLst>
                <a:path h="2462403" w="5520817">
                  <a:moveTo>
                    <a:pt x="0" y="0"/>
                  </a:moveTo>
                  <a:lnTo>
                    <a:pt x="5520817" y="0"/>
                  </a:lnTo>
                  <a:lnTo>
                    <a:pt x="5520817" y="2462403"/>
                  </a:lnTo>
                  <a:lnTo>
                    <a:pt x="0" y="2462403"/>
                  </a:lnTo>
                  <a:close/>
                </a:path>
              </a:pathLst>
            </a:custGeom>
            <a:solidFill>
              <a:srgbClr val="FEFBC1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5520800" cy="2490975"/>
            </a:xfrm>
            <a:prstGeom prst="rect">
              <a:avLst/>
            </a:prstGeom>
          </p:spPr>
          <p:txBody>
            <a:bodyPr anchor="ctr" rtlCol="false" tIns="66899" lIns="66899" bIns="66899" rIns="66899"/>
            <a:lstStyle/>
            <a:p>
              <a:pPr algn="ctr">
                <a:lnSpc>
                  <a:spcPts val="4424"/>
                </a:lnSpc>
              </a:pPr>
              <a:r>
                <a:rPr lang="en-US" sz="368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Phase 3: Testing, Analysis &amp; Hosting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438525" y="4529650"/>
            <a:ext cx="5728463" cy="2851577"/>
            <a:chOff x="0" y="0"/>
            <a:chExt cx="5520800" cy="274820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520817" cy="2748207"/>
            </a:xfrm>
            <a:custGeom>
              <a:avLst/>
              <a:gdLst/>
              <a:ahLst/>
              <a:cxnLst/>
              <a:rect r="r" b="b" t="t" l="l"/>
              <a:pathLst>
                <a:path h="2748207" w="5520817">
                  <a:moveTo>
                    <a:pt x="0" y="0"/>
                  </a:moveTo>
                  <a:lnTo>
                    <a:pt x="5520817" y="0"/>
                  </a:lnTo>
                  <a:lnTo>
                    <a:pt x="5520817" y="2748207"/>
                  </a:lnTo>
                  <a:lnTo>
                    <a:pt x="0" y="2748207"/>
                  </a:lnTo>
                  <a:close/>
                </a:path>
              </a:pathLst>
            </a:custGeom>
            <a:solidFill>
              <a:srgbClr val="FEFBC1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5520800" cy="2795829"/>
            </a:xfrm>
            <a:prstGeom prst="rect">
              <a:avLst/>
            </a:prstGeom>
          </p:spPr>
          <p:txBody>
            <a:bodyPr anchor="ctr" rtlCol="false" tIns="70281" lIns="70281" bIns="70281" rIns="70281"/>
            <a:lstStyle/>
            <a:p>
              <a:pPr algn="l" marL="976803" indent="-488401" lvl="1">
                <a:lnSpc>
                  <a:spcPts val="2672"/>
                </a:lnSpc>
                <a:buFont typeface="Arial"/>
                <a:buChar char="•"/>
              </a:pPr>
              <a:r>
                <a:rPr lang="en-US" sz="1936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Captured Wireshark packets while fetching words</a:t>
              </a:r>
            </a:p>
            <a:p>
              <a:pPr algn="l" marL="976803" indent="-488401" lvl="1">
                <a:lnSpc>
                  <a:spcPts val="2672"/>
                </a:lnSpc>
                <a:buFont typeface="Arial"/>
                <a:buChar char="•"/>
              </a:pPr>
              <a:r>
                <a:rPr lang="en-US" sz="1936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Analyzed DNS resolution, TCP/TLS handshakes, and HTTP GET requests</a:t>
              </a:r>
            </a:p>
            <a:p>
              <a:pPr algn="l" marL="976803" indent="-488401" lvl="1">
                <a:lnSpc>
                  <a:spcPts val="2672"/>
                </a:lnSpc>
                <a:buFont typeface="Arial"/>
                <a:buChar char="•"/>
              </a:pPr>
              <a:r>
                <a:rPr lang="en-US" sz="1936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Compared latency on Wi-Fi vs mobile hotspot</a:t>
              </a:r>
            </a:p>
            <a:p>
              <a:pPr algn="l" marL="976803" indent="-488401" lvl="1">
                <a:lnSpc>
                  <a:spcPts val="2672"/>
                </a:lnSpc>
                <a:buFont typeface="Arial"/>
                <a:buChar char="•"/>
              </a:pPr>
              <a:r>
                <a:rPr lang="en-US" sz="1936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Hosted the final site online via Netlify</a:t>
              </a:r>
            </a:p>
            <a:p>
              <a:pPr algn="l">
                <a:lnSpc>
                  <a:spcPts val="2672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707301" y="4870226"/>
            <a:ext cx="5065074" cy="2259136"/>
            <a:chOff x="0" y="0"/>
            <a:chExt cx="5520800" cy="2462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520817" cy="2462403"/>
            </a:xfrm>
            <a:custGeom>
              <a:avLst/>
              <a:gdLst/>
              <a:ahLst/>
              <a:cxnLst/>
              <a:rect r="r" b="b" t="t" l="l"/>
              <a:pathLst>
                <a:path h="2462403" w="5520817">
                  <a:moveTo>
                    <a:pt x="0" y="0"/>
                  </a:moveTo>
                  <a:lnTo>
                    <a:pt x="5520817" y="0"/>
                  </a:lnTo>
                  <a:lnTo>
                    <a:pt x="5520817" y="2462403"/>
                  </a:lnTo>
                  <a:lnTo>
                    <a:pt x="0" y="2462403"/>
                  </a:lnTo>
                  <a:close/>
                </a:path>
              </a:pathLst>
            </a:custGeom>
            <a:solidFill>
              <a:srgbClr val="FEFBC1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5520800" cy="2519550"/>
            </a:xfrm>
            <a:prstGeom prst="rect">
              <a:avLst/>
            </a:prstGeom>
          </p:spPr>
          <p:txBody>
            <a:bodyPr anchor="ctr" rtlCol="false" tIns="62142" lIns="62142" bIns="62142" rIns="62142"/>
            <a:lstStyle/>
            <a:p>
              <a:pPr algn="l" marL="907274" indent="-453637" lvl="1">
                <a:lnSpc>
                  <a:spcPts val="2700"/>
                </a:lnSpc>
                <a:buFont typeface="Arial"/>
                <a:buChar char="•"/>
              </a:pPr>
              <a:r>
                <a:rPr lang="en-US" sz="195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Wireshark capture (.pcapng or screenshots) </a:t>
              </a:r>
            </a:p>
            <a:p>
              <a:pPr algn="l" marL="907274" indent="-453637" lvl="1">
                <a:lnSpc>
                  <a:spcPts val="2700"/>
                </a:lnSpc>
                <a:buFont typeface="Arial"/>
                <a:buChar char="•"/>
              </a:pPr>
              <a:r>
                <a:rPr lang="en-US" sz="195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Hosted </a:t>
              </a:r>
              <a:r>
                <a:rPr lang="en-US" sz="1957">
                  <a:solidFill>
                    <a:srgbClr val="188038"/>
                  </a:solidFill>
                  <a:latin typeface="Arial"/>
                  <a:ea typeface="Arial"/>
                  <a:cs typeface="Arial"/>
                  <a:sym typeface="Arial"/>
                </a:rPr>
                <a:t>webpage</a:t>
              </a:r>
              <a:r>
                <a:rPr lang="en-US" sz="195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link </a:t>
              </a:r>
            </a:p>
            <a:p>
              <a:pPr algn="l" marL="907274" indent="-453637" lvl="1">
                <a:lnSpc>
                  <a:spcPts val="2348"/>
                </a:lnSpc>
                <a:buFont typeface="Arial"/>
                <a:buChar char="•"/>
              </a:pPr>
              <a:r>
                <a:rPr lang="en-US" sz="195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2–3 page report with screenshots and findings</a:t>
              </a:r>
            </a:p>
          </p:txBody>
        </p:sp>
      </p:grpSp>
      <p:sp>
        <p:nvSpPr>
          <p:cNvPr name="AutoShape 22" id="22"/>
          <p:cNvSpPr/>
          <p:nvPr/>
        </p:nvSpPr>
        <p:spPr>
          <a:xfrm>
            <a:off x="502558" y="1033462"/>
            <a:ext cx="13918050" cy="19050"/>
          </a:xfrm>
          <a:prstGeom prst="line">
            <a:avLst/>
          </a:prstGeom>
          <a:ln cap="rnd" w="9525">
            <a:solidFill>
              <a:srgbClr val="5959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3" id="23"/>
          <p:cNvSpPr txBox="true"/>
          <p:nvPr/>
        </p:nvSpPr>
        <p:spPr>
          <a:xfrm rot="0">
            <a:off x="502558" y="266524"/>
            <a:ext cx="1252995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PROJECT SCOPE &amp; DELIVERABLES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DAG3IyWtm9M</dc:identifier>
  <dcterms:modified xsi:type="dcterms:W3CDTF">2011-08-01T06:04:30Z</dcterms:modified>
  <cp:revision>1</cp:revision>
  <dc:title>Project Scope Presentation - Programming the Web.pptx</dc:title>
</cp:coreProperties>
</file>